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5120640" cy="512064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548640"/>
            <a:ext cx="3291840" cy="3291840"/>
          </a:xfrm>
          <a:prstGeom prst="ellipse">
            <a:avLst/>
          </a:prstGeom>
          <a:solidFill>
            <a:srgbClr val="D7263D">
              <a:alpha val="22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RESPONSE &amp; DECISION SUPPORT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9144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Agap AI</a:t>
            </a:r>
            <a:endParaRPr lang="en-US" sz="7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 request for help into clear, actionable information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people who have to respond.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9" y="4779569"/>
            <a:ext cx="362102" cy="36210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85800" y="528523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send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37560" y="4709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7969" y="4779569"/>
            <a:ext cx="362102" cy="3621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00400" y="528523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to explain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852160" y="4709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569" y="4779569"/>
            <a:ext cx="362102" cy="36210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715000" y="528523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 understand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366760" y="470916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7169" y="4779569"/>
            <a:ext cx="362102" cy="36210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229600" y="5285232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decide &amp; respond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AGAP AI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686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Imagine you are in an emergency.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6126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You’re injured. You’re scared. You need help.
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manage to contact emergency services and say: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200400"/>
            <a:ext cx="6126480" cy="1371600"/>
          </a:xfrm>
          <a:prstGeom prst="roundRect">
            <a:avLst>
              <a:gd name="adj" fmla="val 8000"/>
            </a:avLst>
          </a:prstGeom>
          <a:solidFill>
            <a:srgbClr val="FCEBEC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3429000"/>
            <a:ext cx="502920" cy="50292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9089" y="3499409"/>
            <a:ext cx="362102" cy="3621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333756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A617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need help.”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4846320"/>
            <a:ext cx="6126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is now being requested. But there is still a problem — the responder doesn’t yet know what is actually happening.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7178040" y="868680"/>
            <a:ext cx="4343400" cy="5349240"/>
          </a:xfrm>
          <a:prstGeom prst="roundRect">
            <a:avLst>
              <a:gd name="adj" fmla="val 2947"/>
            </a:avLst>
          </a:prstGeom>
          <a:solidFill>
            <a:srgbClr val="10143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498080" y="11430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becomes even harder when the caller is: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498080" y="1856232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772400" y="1673352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Injured or panicking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498080" y="2423160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72400" y="2240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 with their location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7498080" y="2990088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72400" y="280720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Unable to navigate their phone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7498080" y="3557016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7772400" y="33741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Visually impaired</a:t>
            </a:r>
            <a:endParaRPr lang="en-US" sz="1450" dirty="0"/>
          </a:p>
        </p:txBody>
      </p:sp>
      <p:sp>
        <p:nvSpPr>
          <p:cNvPr id="20" name="Shape 17"/>
          <p:cNvSpPr/>
          <p:nvPr/>
        </p:nvSpPr>
        <p:spPr>
          <a:xfrm>
            <a:off x="7498080" y="4123944"/>
            <a:ext cx="128016" cy="128016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7772400" y="3941064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Surrounded by noise</a:t>
            </a:r>
            <a:endParaRPr lang="en-US" sz="1450" dirty="0"/>
          </a:p>
        </p:txBody>
      </p:sp>
      <p:sp>
        <p:nvSpPr>
          <p:cNvPr id="22" name="Text 19"/>
          <p:cNvSpPr txBox="1"/>
          <p:nvPr/>
        </p:nvSpPr>
        <p:spPr>
          <a:xfrm>
            <a:off x="7498080" y="48006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on emergency call-taking shows caller information is not always clear, complete, or easy to obtain.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AGAP AI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responder needs to know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EF0F8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933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723" y="2083003"/>
            <a:ext cx="460858" cy="46085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96112" y="2743200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happened?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416552" y="1737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EF0F8"/>
          </a:solidFill>
          <a:ln/>
        </p:spPr>
      </p:sp>
      <p:sp>
        <p:nvSpPr>
          <p:cNvPr id="9" name="Shape 6"/>
          <p:cNvSpPr/>
          <p:nvPr/>
        </p:nvSpPr>
        <p:spPr>
          <a:xfrm>
            <a:off x="4672584" y="19933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195" y="2083003"/>
            <a:ext cx="460858" cy="46085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72584" y="2743200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exactly are you?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193024" y="173736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EF0F8"/>
          </a:solidFill>
          <a:ln/>
        </p:spPr>
      </p:sp>
      <p:sp>
        <p:nvSpPr>
          <p:cNvPr id="13" name="Shape 9"/>
          <p:cNvSpPr/>
          <p:nvPr/>
        </p:nvSpPr>
        <p:spPr>
          <a:xfrm>
            <a:off x="8449056" y="1993392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667" y="2083003"/>
            <a:ext cx="460858" cy="460858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449056" y="2743200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your condition?</a:t>
            </a:r>
            <a:endParaRPr lang="en-US" sz="1700" dirty="0"/>
          </a:p>
        </p:txBody>
      </p:sp>
      <p:sp>
        <p:nvSpPr>
          <p:cNvPr id="16" name="Shape 11"/>
          <p:cNvSpPr/>
          <p:nvPr/>
        </p:nvSpPr>
        <p:spPr>
          <a:xfrm>
            <a:off x="640080" y="3867912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EF0F8"/>
          </a:solidFill>
          <a:ln/>
        </p:spPr>
      </p:sp>
      <p:sp>
        <p:nvSpPr>
          <p:cNvPr id="17" name="Shape 12"/>
          <p:cNvSpPr/>
          <p:nvPr/>
        </p:nvSpPr>
        <p:spPr>
          <a:xfrm>
            <a:off x="896112" y="4123944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723" y="4213555"/>
            <a:ext cx="460858" cy="46085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96112" y="4873752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people are affected?</a:t>
            </a:r>
            <a:endParaRPr lang="en-US" sz="1700" dirty="0"/>
          </a:p>
        </p:txBody>
      </p:sp>
      <p:sp>
        <p:nvSpPr>
          <p:cNvPr id="20" name="Shape 14"/>
          <p:cNvSpPr/>
          <p:nvPr/>
        </p:nvSpPr>
        <p:spPr>
          <a:xfrm>
            <a:off x="4416552" y="3867912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EF0F8"/>
          </a:solidFill>
          <a:ln/>
        </p:spPr>
      </p:sp>
      <p:sp>
        <p:nvSpPr>
          <p:cNvPr id="21" name="Shape 15"/>
          <p:cNvSpPr/>
          <p:nvPr/>
        </p:nvSpPr>
        <p:spPr>
          <a:xfrm>
            <a:off x="4672584" y="4123944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195" y="4213555"/>
            <a:ext cx="460858" cy="460858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672584" y="4873752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there hazards?</a:t>
            </a:r>
            <a:endParaRPr lang="en-US" sz="1700" dirty="0"/>
          </a:p>
        </p:txBody>
      </p:sp>
      <p:sp>
        <p:nvSpPr>
          <p:cNvPr id="24" name="Shape 17"/>
          <p:cNvSpPr/>
          <p:nvPr/>
        </p:nvSpPr>
        <p:spPr>
          <a:xfrm>
            <a:off x="8193024" y="3867912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EF0F8"/>
          </a:solidFill>
          <a:ln/>
        </p:spPr>
      </p:sp>
      <p:sp>
        <p:nvSpPr>
          <p:cNvPr id="25" name="Shape 18"/>
          <p:cNvSpPr/>
          <p:nvPr/>
        </p:nvSpPr>
        <p:spPr>
          <a:xfrm>
            <a:off x="8449056" y="4123944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8667" y="4213555"/>
            <a:ext cx="460858" cy="460858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8449056" y="4873752"/>
            <a:ext cx="3008376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urgent is the situation?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AGAP AI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5486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118872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11155680" y="4572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0881360" y="20116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9875520" y="228600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11430000" y="146304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0" y="15544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Shape 7"/>
          <p:cNvSpPr/>
          <p:nvPr/>
        </p:nvSpPr>
        <p:spPr>
          <a:xfrm>
            <a:off x="10241280" y="292608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0" y="31089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9692640" y="3566160"/>
            <a:ext cx="320040" cy="3200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IMAGINE A MAJOR DISASTER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1051560"/>
            <a:ext cx="4572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6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35204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B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people. 30 different reports.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16052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descriptions. Different locations. Different levels of information.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892040"/>
            <a:ext cx="8961120" cy="1234440"/>
          </a:xfrm>
          <a:prstGeom prst="roundRect">
            <a:avLst>
              <a:gd name="adj" fmla="val 8889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97280" y="5029200"/>
            <a:ext cx="8412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dispatcher now has to interpret every report, determine urgency, identify locations, and decide which situations need attention first — all at once.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AGAP AI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88720" y="1371600"/>
            <a:ext cx="9784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 problem is not simply: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1188720" y="1920240"/>
            <a:ext cx="9784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6B708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“Can someone send an SOS?”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480560" y="2880360"/>
            <a:ext cx="3200400" cy="0"/>
          </a:xfrm>
          <a:prstGeom prst="line">
            <a:avLst/>
          </a:prstGeom>
          <a:noFill/>
          <a:ln w="25400">
            <a:solidFill>
              <a:srgbClr val="D726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88720" y="3108960"/>
            <a:ext cx="9784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problem is: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361188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do we turn a person’s request for help into clear, actionable information for the people who have to respond?”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AGAP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5039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Introducing Agap AI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087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emergency response and decision-support platform. Two simple ways to report an emergency: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166360" cy="3794760"/>
          </a:xfrm>
          <a:prstGeom prst="roundRect">
            <a:avLst>
              <a:gd name="adj" fmla="val 3373"/>
            </a:avLst>
          </a:prstGeom>
          <a:solidFill>
            <a:srgbClr val="10143A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697480"/>
            <a:ext cx="914400" cy="91440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8136" y="2825496"/>
            <a:ext cx="658368" cy="65836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60120" y="3749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Tap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960120" y="438912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sends an immediate SOS ping — together with available information about the sender, such as their location and other relevant details.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080760" y="2331720"/>
            <a:ext cx="5166360" cy="3794760"/>
          </a:xfrm>
          <a:prstGeom prst="roundRect">
            <a:avLst>
              <a:gd name="adj" fmla="val 3373"/>
            </a:avLst>
          </a:prstGeom>
          <a:solidFill>
            <a:srgbClr val="D7263D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269748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2825496"/>
            <a:ext cx="658368" cy="6583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400800" y="374904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Speak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6400800" y="4389120"/>
            <a:ext cx="4526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forms. No complicated categories. The person simply describes what is happening — in their own words — and Agap AI does the rest.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AGAP AI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voice report becomes a full picture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4892040" cy="4480560"/>
          </a:xfrm>
          <a:prstGeom prst="roundRect">
            <a:avLst>
              <a:gd name="adj" fmla="val 2857"/>
            </a:avLst>
          </a:prstGeom>
          <a:solidFill>
            <a:srgbClr val="EEF0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6596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04277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075688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PERSON SPEAKS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960120" y="2743200"/>
            <a:ext cx="4251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900" i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“My friend fell down the stairs. He’s unconscious and bleeding from his head. We’re on the second floor of the engineering building.”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742432" y="3566160"/>
            <a:ext cx="731520" cy="73152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4845" y="3668573"/>
            <a:ext cx="526694" cy="52669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675120" y="1691640"/>
            <a:ext cx="4892040" cy="4480560"/>
          </a:xfrm>
          <a:prstGeom prst="roundRect">
            <a:avLst>
              <a:gd name="adj" fmla="val 2857"/>
            </a:avLst>
          </a:prstGeom>
          <a:solidFill>
            <a:srgbClr val="10143A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995160" y="19659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AGAP AI STRUCTURES IT</a:t>
            </a:r>
            <a:endParaRPr lang="en-US" sz="1150" dirty="0"/>
          </a:p>
        </p:txBody>
      </p:sp>
      <p:sp>
        <p:nvSpPr>
          <p:cNvPr id="13" name="Text 9"/>
          <p:cNvSpPr txBox="1"/>
          <p:nvPr/>
        </p:nvSpPr>
        <p:spPr>
          <a:xfrm>
            <a:off x="6995160" y="2514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8961120" y="25146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6995160" y="3044952"/>
            <a:ext cx="42519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6995160" y="313639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8961120" y="313639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Unconscious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6995160" y="3666744"/>
            <a:ext cx="42519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995160" y="375818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</a:t>
            </a:r>
            <a:endParaRPr lang="en-US" sz="1100" dirty="0"/>
          </a:p>
        </p:txBody>
      </p:sp>
      <p:sp>
        <p:nvSpPr>
          <p:cNvPr id="20" name="Text 16"/>
          <p:cNvSpPr txBox="1"/>
          <p:nvPr/>
        </p:nvSpPr>
        <p:spPr>
          <a:xfrm>
            <a:off x="8961120" y="3758184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bleeding</a:t>
            </a:r>
            <a:endParaRPr lang="en-US" sz="1450" dirty="0"/>
          </a:p>
        </p:txBody>
      </p:sp>
      <p:sp>
        <p:nvSpPr>
          <p:cNvPr id="21" name="Shape 17"/>
          <p:cNvSpPr/>
          <p:nvPr/>
        </p:nvSpPr>
        <p:spPr>
          <a:xfrm>
            <a:off x="6995160" y="4288536"/>
            <a:ext cx="42519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6995160" y="437997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8961120" y="437997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Bldg, 2nd Floor</a:t>
            </a:r>
            <a:endParaRPr lang="en-US" sz="1450" dirty="0"/>
          </a:p>
        </p:txBody>
      </p:sp>
      <p:sp>
        <p:nvSpPr>
          <p:cNvPr id="24" name="Shape 20"/>
          <p:cNvSpPr/>
          <p:nvPr/>
        </p:nvSpPr>
        <p:spPr>
          <a:xfrm>
            <a:off x="6995160" y="4910328"/>
            <a:ext cx="42519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6995160" y="50017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AFFECTED</a:t>
            </a:r>
            <a:endParaRPr lang="en-US" sz="1100" dirty="0"/>
          </a:p>
        </p:txBody>
      </p:sp>
      <p:sp>
        <p:nvSpPr>
          <p:cNvPr id="26" name="Text 22"/>
          <p:cNvSpPr txBox="1"/>
          <p:nvPr/>
        </p:nvSpPr>
        <p:spPr>
          <a:xfrm>
            <a:off x="8961120" y="500176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50" dirty="0"/>
          </a:p>
        </p:txBody>
      </p:sp>
      <p:sp>
        <p:nvSpPr>
          <p:cNvPr id="27" name="Shape 23"/>
          <p:cNvSpPr/>
          <p:nvPr/>
        </p:nvSpPr>
        <p:spPr>
          <a:xfrm>
            <a:off x="6995160" y="5532120"/>
            <a:ext cx="42519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6995160" y="56235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URGENCY</a:t>
            </a:r>
            <a:endParaRPr lang="en-US" sz="1100" dirty="0"/>
          </a:p>
        </p:txBody>
      </p:sp>
      <p:sp>
        <p:nvSpPr>
          <p:cNvPr id="29" name="Text 25"/>
          <p:cNvSpPr txBox="1"/>
          <p:nvPr/>
        </p:nvSpPr>
        <p:spPr>
          <a:xfrm>
            <a:off x="8961120" y="5623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450" dirty="0"/>
          </a:p>
        </p:txBody>
      </p:sp>
      <p:sp>
        <p:nvSpPr>
          <p:cNvPr id="30" name="Text 2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AGAP AI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Agap AI identifies from natural speech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16636" y="1920240"/>
            <a:ext cx="1691640" cy="2743200"/>
          </a:xfrm>
          <a:prstGeom prst="roundRect">
            <a:avLst>
              <a:gd name="adj" fmla="val 5405"/>
            </a:avLst>
          </a:prstGeom>
          <a:solidFill>
            <a:srgbClr val="EEF0F8"/>
          </a:solidFill>
          <a:ln/>
        </p:spPr>
      </p:sp>
      <p:sp>
        <p:nvSpPr>
          <p:cNvPr id="5" name="Shape 3"/>
          <p:cNvSpPr/>
          <p:nvPr/>
        </p:nvSpPr>
        <p:spPr>
          <a:xfrm>
            <a:off x="1033272" y="2240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5444" y="2332452"/>
            <a:ext cx="474025" cy="47402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6364" y="3154680"/>
            <a:ext cx="14721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409444" y="1920240"/>
            <a:ext cx="1691640" cy="2743200"/>
          </a:xfrm>
          <a:prstGeom prst="roundRect">
            <a:avLst>
              <a:gd name="adj" fmla="val 5405"/>
            </a:avLst>
          </a:prstGeom>
          <a:solidFill>
            <a:srgbClr val="EEF0F8"/>
          </a:solidFill>
          <a:ln/>
        </p:spPr>
      </p:sp>
      <p:sp>
        <p:nvSpPr>
          <p:cNvPr id="9" name="Shape 6"/>
          <p:cNvSpPr/>
          <p:nvPr/>
        </p:nvSpPr>
        <p:spPr>
          <a:xfrm>
            <a:off x="2926080" y="2240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8252" y="2332452"/>
            <a:ext cx="474025" cy="47402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519172" y="3154680"/>
            <a:ext cx="14721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302252" y="1920240"/>
            <a:ext cx="1691640" cy="2743200"/>
          </a:xfrm>
          <a:prstGeom prst="roundRect">
            <a:avLst>
              <a:gd name="adj" fmla="val 5405"/>
            </a:avLst>
          </a:prstGeom>
          <a:solidFill>
            <a:srgbClr val="EEF0F8"/>
          </a:solidFill>
          <a:ln/>
        </p:spPr>
      </p:sp>
      <p:sp>
        <p:nvSpPr>
          <p:cNvPr id="13" name="Shape 9"/>
          <p:cNvSpPr/>
          <p:nvPr/>
        </p:nvSpPr>
        <p:spPr>
          <a:xfrm>
            <a:off x="4818888" y="2240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060" y="2332452"/>
            <a:ext cx="474025" cy="47402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411980" y="3154680"/>
            <a:ext cx="14721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Injuries &amp; symptoms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195060" y="1920240"/>
            <a:ext cx="1691640" cy="2743200"/>
          </a:xfrm>
          <a:prstGeom prst="roundRect">
            <a:avLst>
              <a:gd name="adj" fmla="val 5405"/>
            </a:avLst>
          </a:prstGeom>
          <a:solidFill>
            <a:srgbClr val="EEF0F8"/>
          </a:solidFill>
          <a:ln/>
        </p:spPr>
      </p:sp>
      <p:sp>
        <p:nvSpPr>
          <p:cNvPr id="17" name="Shape 12"/>
          <p:cNvSpPr/>
          <p:nvPr/>
        </p:nvSpPr>
        <p:spPr>
          <a:xfrm>
            <a:off x="6711696" y="2240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868" y="2332452"/>
            <a:ext cx="474025" cy="47402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304788" y="3154680"/>
            <a:ext cx="14721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087868" y="1920240"/>
            <a:ext cx="1691640" cy="2743200"/>
          </a:xfrm>
          <a:prstGeom prst="roundRect">
            <a:avLst>
              <a:gd name="adj" fmla="val 5405"/>
            </a:avLst>
          </a:prstGeom>
          <a:solidFill>
            <a:srgbClr val="EEF0F8"/>
          </a:solidFill>
          <a:ln/>
        </p:spPr>
      </p:sp>
      <p:sp>
        <p:nvSpPr>
          <p:cNvPr id="21" name="Shape 15"/>
          <p:cNvSpPr/>
          <p:nvPr/>
        </p:nvSpPr>
        <p:spPr>
          <a:xfrm>
            <a:off x="8604504" y="2240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6676" y="2332452"/>
            <a:ext cx="474025" cy="474025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8197596" y="3154680"/>
            <a:ext cx="14721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affected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9980676" y="1920240"/>
            <a:ext cx="1691640" cy="2743200"/>
          </a:xfrm>
          <a:prstGeom prst="roundRect">
            <a:avLst>
              <a:gd name="adj" fmla="val 5405"/>
            </a:avLst>
          </a:prstGeom>
          <a:solidFill>
            <a:srgbClr val="EEF0F8"/>
          </a:solidFill>
          <a:ln/>
        </p:spPr>
      </p:sp>
      <p:sp>
        <p:nvSpPr>
          <p:cNvPr id="25" name="Shape 18"/>
          <p:cNvSpPr/>
          <p:nvPr/>
        </p:nvSpPr>
        <p:spPr>
          <a:xfrm>
            <a:off x="10497312" y="22402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9484" y="2332452"/>
            <a:ext cx="474025" cy="474025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0090404" y="3154680"/>
            <a:ext cx="147218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hazards</a:t>
            </a:r>
            <a:endParaRPr lang="en-US" sz="1300" dirty="0"/>
          </a:p>
        </p:txBody>
      </p:sp>
      <p:sp>
        <p:nvSpPr>
          <p:cNvPr id="28" name="Text 20"/>
          <p:cNvSpPr txBox="1"/>
          <p:nvPr/>
        </p:nvSpPr>
        <p:spPr>
          <a:xfrm>
            <a:off x="822960" y="5120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this, Agap AI produces an AI-assisted urgency assessment — and can offer protocol-based guidance while help is coordinated.</a:t>
            </a:r>
            <a:endParaRPr lang="en-US" sz="1500" dirty="0"/>
          </a:p>
        </p:txBody>
      </p:sp>
      <p:sp>
        <p:nvSpPr>
          <p:cNvPr id="29" name="Text 2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AGAP AI</a:t>
            </a:r>
            <a:endParaRPr lang="en-US" sz="900" dirty="0"/>
          </a:p>
        </p:txBody>
      </p:sp>
      <p:sp>
        <p:nvSpPr>
          <p:cNvPr id="30" name="Text 2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50392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voice report to guided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0916" y="2148840"/>
            <a:ext cx="2331720" cy="3291840"/>
          </a:xfrm>
          <a:prstGeom prst="roundRect">
            <a:avLst>
              <a:gd name="adj" fmla="val 4706"/>
            </a:avLst>
          </a:prstGeom>
          <a:solidFill>
            <a:srgbClr val="10143A"/>
          </a:solidFill>
          <a:ln/>
        </p:spPr>
      </p:sp>
      <p:sp>
        <p:nvSpPr>
          <p:cNvPr id="5" name="Shape 3"/>
          <p:cNvSpPr/>
          <p:nvPr/>
        </p:nvSpPr>
        <p:spPr>
          <a:xfrm>
            <a:off x="1339596" y="24688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806" y="25520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35508" y="3246120"/>
            <a:ext cx="20025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Voice Report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635508" y="3931920"/>
            <a:ext cx="20025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describes the emergency naturally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34056" y="3611880"/>
            <a:ext cx="365760" cy="365760"/>
          </a:xfrm>
          <a:prstGeom prst="ellipse">
            <a:avLst/>
          </a:prstGeom>
          <a:solidFill>
            <a:srgbClr val="EEF0F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5262" y="3663086"/>
            <a:ext cx="263347" cy="26334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42716" y="2148840"/>
            <a:ext cx="2331720" cy="3291840"/>
          </a:xfrm>
          <a:prstGeom prst="roundRect">
            <a:avLst>
              <a:gd name="adj" fmla="val 4706"/>
            </a:avLst>
          </a:prstGeom>
          <a:solidFill>
            <a:srgbClr val="D7263D"/>
          </a:solidFill>
          <a:ln/>
        </p:spPr>
      </p:sp>
      <p:sp>
        <p:nvSpPr>
          <p:cNvPr id="12" name="Shape 8"/>
          <p:cNvSpPr/>
          <p:nvPr/>
        </p:nvSpPr>
        <p:spPr>
          <a:xfrm>
            <a:off x="4311396" y="24688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606" y="2552090"/>
            <a:ext cx="427939" cy="42793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607308" y="3246120"/>
            <a:ext cx="20025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AI Urgency Assessment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3607308" y="3931920"/>
            <a:ext cx="20025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Agap AI classifies severity and structures the details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705856" y="3611880"/>
            <a:ext cx="365760" cy="365760"/>
          </a:xfrm>
          <a:prstGeom prst="ellipse">
            <a:avLst/>
          </a:prstGeom>
          <a:solidFill>
            <a:srgbClr val="EEF0F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57062" y="3663086"/>
            <a:ext cx="263347" cy="263347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414516" y="2148840"/>
            <a:ext cx="2331720" cy="3291840"/>
          </a:xfrm>
          <a:prstGeom prst="roundRect">
            <a:avLst>
              <a:gd name="adj" fmla="val 4706"/>
            </a:avLst>
          </a:prstGeom>
          <a:solidFill>
            <a:srgbClr val="10143A"/>
          </a:solidFill>
          <a:ln/>
        </p:spPr>
      </p:sp>
      <p:sp>
        <p:nvSpPr>
          <p:cNvPr id="19" name="Shape 13"/>
          <p:cNvSpPr/>
          <p:nvPr/>
        </p:nvSpPr>
        <p:spPr>
          <a:xfrm>
            <a:off x="7283196" y="24688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406" y="2552090"/>
            <a:ext cx="427939" cy="427939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6579108" y="3246120"/>
            <a:ext cx="20025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Protocol-Based Guidance</a:t>
            </a:r>
            <a:endParaRPr lang="en-US" sz="1450" dirty="0"/>
          </a:p>
        </p:txBody>
      </p:sp>
      <p:sp>
        <p:nvSpPr>
          <p:cNvPr id="22" name="Text 15"/>
          <p:cNvSpPr txBox="1"/>
          <p:nvPr/>
        </p:nvSpPr>
        <p:spPr>
          <a:xfrm>
            <a:off x="6579108" y="3931920"/>
            <a:ext cx="20025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Immediate, appropriate guidance while help is coordinated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8677656" y="3611880"/>
            <a:ext cx="365760" cy="365760"/>
          </a:xfrm>
          <a:prstGeom prst="ellipse">
            <a:avLst/>
          </a:prstGeom>
          <a:solidFill>
            <a:srgbClr val="EEF0F8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28862" y="3663086"/>
            <a:ext cx="263347" cy="263347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386316" y="2148840"/>
            <a:ext cx="2331720" cy="3291840"/>
          </a:xfrm>
          <a:prstGeom prst="roundRect">
            <a:avLst>
              <a:gd name="adj" fmla="val 4706"/>
            </a:avLst>
          </a:prstGeom>
          <a:solidFill>
            <a:srgbClr val="D7263D"/>
          </a:solidFill>
          <a:ln/>
        </p:spPr>
      </p:sp>
      <p:sp>
        <p:nvSpPr>
          <p:cNvPr id="26" name="Shape 18"/>
          <p:cNvSpPr/>
          <p:nvPr/>
        </p:nvSpPr>
        <p:spPr>
          <a:xfrm>
            <a:off x="10254996" y="24688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38206" y="2552090"/>
            <a:ext cx="427939" cy="427939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9550908" y="3246120"/>
            <a:ext cx="20025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Dispatcher Dashboard</a:t>
            </a:r>
            <a:endParaRPr lang="en-US" sz="1450" dirty="0"/>
          </a:p>
        </p:txBody>
      </p:sp>
      <p:sp>
        <p:nvSpPr>
          <p:cNvPr id="29" name="Text 20"/>
          <p:cNvSpPr txBox="1"/>
          <p:nvPr/>
        </p:nvSpPr>
        <p:spPr>
          <a:xfrm>
            <a:off x="9550908" y="3931920"/>
            <a:ext cx="200253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 reaches the dispatcher, ready to act on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AGAP AI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04672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multiple emergencies happen at once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44752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Agap AI organizes reports into a structured, prioritized queue — and flags potentially related reports.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881360" cy="896112"/>
          </a:xfrm>
          <a:prstGeom prst="roundRect">
            <a:avLst>
              <a:gd name="adj" fmla="val 10204"/>
            </a:avLst>
          </a:prstGeom>
          <a:solidFill>
            <a:srgbClr val="FCEBE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77440"/>
            <a:ext cx="1005840" cy="438912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377440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25856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– Unconscious, head bleeding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057400" y="26060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Bldg, 2nd Floor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209544"/>
            <a:ext cx="10881360" cy="896112"/>
          </a:xfrm>
          <a:prstGeom prst="roundRect">
            <a:avLst>
              <a:gd name="adj" fmla="val 10204"/>
            </a:avLst>
          </a:prstGeom>
          <a:solidFill>
            <a:srgbClr val="FCEBEC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3438144"/>
            <a:ext cx="1005840" cy="438912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438144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057400" y="331927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collapse reported nearby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366674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Bldg, Courtyard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34290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617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Linked report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270248"/>
            <a:ext cx="10881360" cy="896112"/>
          </a:xfrm>
          <a:prstGeom prst="roundRect">
            <a:avLst>
              <a:gd name="adj" fmla="val 10204"/>
            </a:avLst>
          </a:prstGeom>
          <a:solidFill>
            <a:srgbClr val="EEF0F8"/>
          </a:solidFill>
          <a:ln/>
        </p:spPr>
      </p:sp>
      <p:sp>
        <p:nvSpPr>
          <p:cNvPr id="17" name="Shape 15"/>
          <p:cNvSpPr/>
          <p:nvPr/>
        </p:nvSpPr>
        <p:spPr>
          <a:xfrm>
            <a:off x="822960" y="4498848"/>
            <a:ext cx="1005840" cy="438912"/>
          </a:xfrm>
          <a:prstGeom prst="roundRect">
            <a:avLst>
              <a:gd name="adj" fmla="val 50000"/>
            </a:avLst>
          </a:prstGeom>
          <a:solidFill>
            <a:srgbClr val="C97A1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22960" y="4498848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057400" y="437997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odor, minor injuries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472744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Library, 1st Floor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5330952"/>
            <a:ext cx="10881360" cy="896112"/>
          </a:xfrm>
          <a:prstGeom prst="roundRect">
            <a:avLst>
              <a:gd name="adj" fmla="val 10204"/>
            </a:avLst>
          </a:prstGeom>
          <a:solidFill>
            <a:srgbClr val="EEF0F8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960" y="5559552"/>
            <a:ext cx="1005840" cy="438912"/>
          </a:xfrm>
          <a:prstGeom prst="roundRect">
            <a:avLst>
              <a:gd name="adj" fmla="val 50000"/>
            </a:avLst>
          </a:prstGeom>
          <a:solidFill>
            <a:srgbClr val="3E8E4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5559552"/>
            <a:ext cx="1005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2057400" y="54406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 fender-bender, no injuries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2057400" y="578815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Gate parking lot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AGAP AI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9144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 WE NEVER COMPROMISE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11247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B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Assists. </a:t>
            </a:r>
            <a:pPr algn="ctr" indent="0" marL="0">
              <a:buNone/>
            </a:pPr>
            <a:r>
              <a:rPr lang="en-US" sz="4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Humans Decide.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60604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does not make the emergency decision. It supports the person who does.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22376" y="35204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1705356" y="3794760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2166" y="3871570"/>
            <a:ext cx="395021" cy="39502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86968" y="4572000"/>
            <a:ext cx="21854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structured information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465576" y="35204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4448556" y="3794760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366" y="387157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30168" y="4572000"/>
            <a:ext cx="21854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or change the priority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08776" y="35204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4" name="Shape 10"/>
          <p:cNvSpPr/>
          <p:nvPr/>
        </p:nvSpPr>
        <p:spPr>
          <a:xfrm>
            <a:off x="7191756" y="3794760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8566" y="3871570"/>
            <a:ext cx="395021" cy="39502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73368" y="4572000"/>
            <a:ext cx="21854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responders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8951976" y="3520440"/>
            <a:ext cx="2514600" cy="192024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8" name="Shape 13"/>
          <p:cNvSpPr/>
          <p:nvPr/>
        </p:nvSpPr>
        <p:spPr>
          <a:xfrm>
            <a:off x="9934956" y="3794760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1766" y="3871570"/>
            <a:ext cx="395021" cy="395021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9116568" y="4572000"/>
            <a:ext cx="218541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the AI when necessary</a:t>
            </a:r>
            <a:endParaRPr lang="en-US" sz="1250" dirty="0"/>
          </a:p>
        </p:txBody>
      </p:sp>
      <p:sp>
        <p:nvSpPr>
          <p:cNvPr id="21" name="Text 15"/>
          <p:cNvSpPr txBox="1"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dispatcher can do all of this — always.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AGAP AI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DIFFERENT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8503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continuous workflow, not separate tools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813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 systems, voice tools, and AI triage already exist individually. Our innovation is integrating them into one flow.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242316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EEF0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6243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369" y="2694737"/>
            <a:ext cx="362102" cy="3621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20624" y="3291840"/>
            <a:ext cx="13075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</a:t>
            </a:r>
            <a:endParaRPr lang="en-US" sz="10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1368" y="3182112"/>
            <a:ext cx="219456" cy="219456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039112" y="242316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10143A"/>
          </a:solidFill>
          <a:ln/>
        </p:spPr>
      </p:sp>
      <p:sp>
        <p:nvSpPr>
          <p:cNvPr id="11" name="Shape 7"/>
          <p:cNvSpPr/>
          <p:nvPr/>
        </p:nvSpPr>
        <p:spPr>
          <a:xfrm>
            <a:off x="2496312" y="26243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66721" y="2694737"/>
            <a:ext cx="362102" cy="36210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2093976" y="3291840"/>
            <a:ext cx="13075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182112"/>
            <a:ext cx="219456" cy="219456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712464" y="242316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EEF0F8"/>
          </a:solidFill>
          <a:ln/>
        </p:spPr>
      </p:sp>
      <p:sp>
        <p:nvSpPr>
          <p:cNvPr id="16" name="Shape 10"/>
          <p:cNvSpPr/>
          <p:nvPr/>
        </p:nvSpPr>
        <p:spPr>
          <a:xfrm>
            <a:off x="4169664" y="26243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0073" y="2694737"/>
            <a:ext cx="362102" cy="3621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767328" y="3291840"/>
            <a:ext cx="13075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Understanding</a:t>
            </a:r>
            <a:endParaRPr lang="en-US" sz="10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48072" y="3182112"/>
            <a:ext cx="219456" cy="219456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385816" y="242316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10143A"/>
          </a:solidFill>
          <a:ln/>
        </p:spPr>
      </p:sp>
      <p:sp>
        <p:nvSpPr>
          <p:cNvPr id="21" name="Shape 13"/>
          <p:cNvSpPr/>
          <p:nvPr/>
        </p:nvSpPr>
        <p:spPr>
          <a:xfrm>
            <a:off x="5843016" y="26243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3425" y="2694737"/>
            <a:ext cx="362102" cy="362102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5440680" y="3291840"/>
            <a:ext cx="13075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Report</a:t>
            </a:r>
            <a:endParaRPr lang="en-US" sz="10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21424" y="3182112"/>
            <a:ext cx="219456" cy="219456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7059168" y="242316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EEF0F8"/>
          </a:solidFill>
          <a:ln/>
        </p:spPr>
      </p:sp>
      <p:sp>
        <p:nvSpPr>
          <p:cNvPr id="26" name="Shape 16"/>
          <p:cNvSpPr/>
          <p:nvPr/>
        </p:nvSpPr>
        <p:spPr>
          <a:xfrm>
            <a:off x="7516368" y="26243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86777" y="2694737"/>
            <a:ext cx="362102" cy="362102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7114032" y="3291840"/>
            <a:ext cx="13075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</a:t>
            </a:r>
            <a:endParaRPr lang="en-US" sz="10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94776" y="3182112"/>
            <a:ext cx="219456" cy="219456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8732520" y="242316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10143A"/>
          </a:solidFill>
          <a:ln/>
        </p:spPr>
      </p:sp>
      <p:sp>
        <p:nvSpPr>
          <p:cNvPr id="31" name="Shape 19"/>
          <p:cNvSpPr/>
          <p:nvPr/>
        </p:nvSpPr>
        <p:spPr>
          <a:xfrm>
            <a:off x="9189720" y="262432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60129" y="2694737"/>
            <a:ext cx="362102" cy="362102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8787384" y="3291840"/>
            <a:ext cx="13075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050" dirty="0"/>
          </a:p>
        </p:txBody>
      </p:sp>
      <p:pic>
        <p:nvPicPr>
          <p:cNvPr id="3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68128" y="3182112"/>
            <a:ext cx="219456" cy="219456"/>
          </a:xfrm>
          <a:prstGeom prst="rect">
            <a:avLst/>
          </a:prstGeom>
        </p:spPr>
      </p:pic>
      <p:sp>
        <p:nvSpPr>
          <p:cNvPr id="35" name="Shape 21"/>
          <p:cNvSpPr/>
          <p:nvPr/>
        </p:nvSpPr>
        <p:spPr>
          <a:xfrm>
            <a:off x="10405872" y="2423160"/>
            <a:ext cx="1417320" cy="1737360"/>
          </a:xfrm>
          <a:prstGeom prst="roundRect">
            <a:avLst>
              <a:gd name="adj" fmla="val 6452"/>
            </a:avLst>
          </a:prstGeom>
          <a:solidFill>
            <a:srgbClr val="D7263D"/>
          </a:solidFill>
          <a:ln/>
        </p:spPr>
      </p:sp>
      <p:sp>
        <p:nvSpPr>
          <p:cNvPr id="36" name="Shape 22"/>
          <p:cNvSpPr/>
          <p:nvPr/>
        </p:nvSpPr>
        <p:spPr>
          <a:xfrm>
            <a:off x="10863072" y="262432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933481" y="2694737"/>
            <a:ext cx="362102" cy="362102"/>
          </a:xfrm>
          <a:prstGeom prst="rect">
            <a:avLst/>
          </a:prstGeom>
        </p:spPr>
      </p:pic>
      <p:sp>
        <p:nvSpPr>
          <p:cNvPr id="38" name="Text 23"/>
          <p:cNvSpPr txBox="1"/>
          <p:nvPr/>
        </p:nvSpPr>
        <p:spPr>
          <a:xfrm>
            <a:off x="10460736" y="3291840"/>
            <a:ext cx="130759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Decision</a:t>
            </a:r>
            <a:endParaRPr lang="en-US" sz="1050" dirty="0"/>
          </a:p>
        </p:txBody>
      </p:sp>
      <p:sp>
        <p:nvSpPr>
          <p:cNvPr id="39" name="Shape 24"/>
          <p:cNvSpPr/>
          <p:nvPr/>
        </p:nvSpPr>
        <p:spPr>
          <a:xfrm>
            <a:off x="1188720" y="4709160"/>
            <a:ext cx="9784080" cy="1234440"/>
          </a:xfrm>
          <a:prstGeom prst="roundRect">
            <a:avLst>
              <a:gd name="adj" fmla="val 8889"/>
            </a:avLst>
          </a:prstGeom>
          <a:solidFill>
            <a:srgbClr val="10143A"/>
          </a:solidFill>
          <a:ln/>
        </p:spPr>
      </p:sp>
      <p:sp>
        <p:nvSpPr>
          <p:cNvPr id="40" name="Text 25"/>
          <p:cNvSpPr txBox="1"/>
          <p:nvPr/>
        </p:nvSpPr>
        <p:spPr>
          <a:xfrm>
            <a:off x="1463040" y="4892040"/>
            <a:ext cx="9235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voice isn’t just the trigger — the voice is the emergency report.</a:t>
            </a:r>
            <a:endParaRPr lang="en-US" sz="1900" dirty="0"/>
          </a:p>
        </p:txBody>
      </p:sp>
      <p:sp>
        <p:nvSpPr>
          <p:cNvPr id="41" name="Text 2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AGAP AI</a:t>
            </a:r>
            <a:endParaRPr lang="en-US" sz="900" dirty="0"/>
          </a:p>
        </p:txBody>
      </p:sp>
      <p:sp>
        <p:nvSpPr>
          <p:cNvPr id="42" name="Text 2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0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5120640" cy="512064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914400" y="685800"/>
            <a:ext cx="10332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SOS can tell us someone needs help.</a:t>
            </a:r>
            <a:endParaRPr lang="en-US" sz="1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600" i="1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responders need to understand what happened, where, and what help is needed.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13816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773936" y="2468880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0746" y="25456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32461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send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511296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9" name="Shape 6"/>
          <p:cNvSpPr/>
          <p:nvPr/>
        </p:nvSpPr>
        <p:spPr>
          <a:xfrm>
            <a:off x="4471416" y="2468880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226" y="2545690"/>
            <a:ext cx="395021" cy="39502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48456" y="32461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to explain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208776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3" name="Shape 9"/>
          <p:cNvSpPr/>
          <p:nvPr/>
        </p:nvSpPr>
        <p:spPr>
          <a:xfrm>
            <a:off x="7168896" y="2468880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706" y="2545690"/>
            <a:ext cx="395021" cy="39502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6345936" y="32461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 understand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906256" y="2194560"/>
            <a:ext cx="246888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7" name="Shape 12"/>
          <p:cNvSpPr/>
          <p:nvPr/>
        </p:nvSpPr>
        <p:spPr>
          <a:xfrm>
            <a:off x="9866376" y="2468880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3186" y="2545690"/>
            <a:ext cx="395021" cy="39502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9043416" y="324612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to decide &amp; respond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822960" y="45720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Agap AI.</a:t>
            </a:r>
            <a:endParaRPr lang="en-US" sz="4000" dirty="0"/>
          </a:p>
        </p:txBody>
      </p:sp>
      <p:sp>
        <p:nvSpPr>
          <p:cNvPr id="21" name="Text 15"/>
          <p:cNvSpPr txBox="1"/>
          <p:nvPr/>
        </p:nvSpPr>
        <p:spPr>
          <a:xfrm>
            <a:off x="822960" y="539496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45720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AGAP AI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2026-09-12T12:54:22Z</dcterms:created>
  <dcterms:modified xsi:type="dcterms:W3CDTF">2026-09-12T12:54:22Z</dcterms:modified>
</cp:coreProperties>
</file>